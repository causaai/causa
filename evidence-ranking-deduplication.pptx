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86ef0738d4594788" /><Relationship Type="http://schemas.openxmlformats.org/package/2006/relationships/metadata/core-properties" Target="/docProps/core.xml" Id="Rfc20453cb45c4ca2" /><Relationship Type="http://schemas.openxmlformats.org/officeDocument/2006/relationships/extended-properties" Target="/docProps/app.xml" Id="R8a4bd8e8a1d94a3d" /><Relationship Type="http://schemas.openxmlformats.org/officeDocument/2006/relationships/custom-properties" Target="/docProps/custom.xml" Id="Rc434d93344d6498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10f1068cd4314e79"/>
  </p:notesMasterIdLst>
  <p:sldIdLst>
    <p:sldId id="256" r:id="R3edbbed458684682"/>
    <p:sldId id="257" r:id="R55fce3f5e0384364"/>
    <p:sldId id="258" r:id="R1651cd9b094146f3"/>
    <p:sldId id="259" r:id="R24ef759129a04eb3"/>
    <p:sldId id="260" r:id="R676f236acf18479c"/>
    <p:sldId id="261" r:id="Rc8f72c8ce7164e1a"/>
    <p:sldId id="262" r:id="R6daf2e948eb445ab"/>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3edbbed458684682" /><Relationship Type="http://schemas.openxmlformats.org/officeDocument/2006/relationships/notesMaster" Target="/ppt/notesMasters/notesMaster1.xml" Id="R10f1068cd4314e79" /><Relationship Type="http://schemas.openxmlformats.org/officeDocument/2006/relationships/slide" Target="/ppt/slides/slide2.xml" Id="R55fce3f5e0384364" /><Relationship Type="http://schemas.openxmlformats.org/officeDocument/2006/relationships/slide" Target="/ppt/slides/slide3.xml" Id="R1651cd9b094146f3" /><Relationship Type="http://schemas.openxmlformats.org/officeDocument/2006/relationships/slide" Target="/ppt/slides/slide4.xml" Id="R24ef759129a04eb3" /><Relationship Type="http://schemas.openxmlformats.org/officeDocument/2006/relationships/slide" Target="/ppt/slides/slide5.xml" Id="R676f236acf18479c" /><Relationship Type="http://schemas.openxmlformats.org/officeDocument/2006/relationships/slide" Target="/ppt/slides/slide6.xml" Id="Rc8f72c8ce7164e1a" /><Relationship Type="http://schemas.openxmlformats.org/officeDocument/2006/relationships/slide" Target="/ppt/slides/slide7.xml" Id="R6daf2e948eb445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2c4a7e222134770"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c13e0e8ace5644f8" /><Relationship Type="http://schemas.openxmlformats.org/officeDocument/2006/relationships/slide" Target="/ppt/slides/slide1.xml" Id="Rb0c9ce1cd2dd485e"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15942464f6224e27" /><Relationship Type="http://schemas.openxmlformats.org/officeDocument/2006/relationships/slide" Target="/ppt/slides/slide2.xml" Id="Rec0f9db79b6449e8"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e928ce1e1cef4f2f" /><Relationship Type="http://schemas.openxmlformats.org/officeDocument/2006/relationships/slide" Target="/ppt/slides/slide3.xml" Id="Re52fed1b57734d8b"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0131c2717a9e4d51" /><Relationship Type="http://schemas.openxmlformats.org/officeDocument/2006/relationships/slide" Target="/ppt/slides/slide4.xml" Id="R824c8469e68948f4"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8c2d036ef42d4bce" /><Relationship Type="http://schemas.openxmlformats.org/officeDocument/2006/relationships/slide" Target="/ppt/slides/slide5.xml" Id="R5f855df57b244600"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71c7cedb0ea2449c" /><Relationship Type="http://schemas.openxmlformats.org/officeDocument/2006/relationships/slide" Target="/ppt/slides/slide6.xml" Id="Re49c3a02062641b5"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6a2b364e0d314f03" /><Relationship Type="http://schemas.openxmlformats.org/officeDocument/2006/relationships/slide" Target="/ppt/slides/slide7.xml" Id="Rccff0430200943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Slide 1 establishes the core problem: Raw evidence arrives from multiple detectors, rule engines, and LLM analyzers. Showing unranked, duplicated, or irrelevant evidence overwhelms SREs. We need a systematic way to rank, deduplicate, and present the most impactful evidence.</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Explains the two core dimensions: Evidence Strength (independent quality of evidence) and Deduplication + Relevance (contextual value against specific RCA). Shows the clear sequential pipeline from multi-source ingestion to final UX.</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Focuses on deduplication mechanics. Distinguishes between identical facts expressed in different phrasing across sources, and complementary related facts that must both be retained.</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Demonstrates why evidence strength alone is insufficient. Strong evidence like 'increase memory' has low diagnostic relevance, whereas 'memory limit' and 'metaspace growth' have very high relevance because they explain the exact mechanism of failure.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Details the 6 prompt evaluation parameters provided to the LLM agent during deduplication. Clear parameters prevent aggressive over-merging while ensuring duplicate signals are collapsed into a canonical representation.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Walks through the LLM agent's internal architecture and execution pipeline. Emphasizes that ranking balances strength and relevance holistically via an LLM rubric rather than a simplistic hardcoded sort.</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Summarizes architectural alternatives. Embeddings and BM25 compare text similarity, but RCA validation requires causal and diagnostic reasoning. LLM provides the highest accuracy and explainability for MVP.</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f1a6dfef7542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1215d40d9f4a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17c5c99abb4d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a15402a6574b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7fc2ec0737466a"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76c17846c7c44b8e"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6248d383fd274dd4" /><Relationship Type="http://schemas.openxmlformats.org/officeDocument/2006/relationships/notesSlide" Target="/ppt/notesSlides/notesSlide1.xml" Id="Rc24614df589f4c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6d59cf2e134aa6" /><Relationship Type="http://schemas.openxmlformats.org/officeDocument/2006/relationships/notesSlide" Target="/ppt/notesSlides/notesSlide2.xml" Id="R428ef4bdd6fc40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49dbdc251d4f98" /><Relationship Type="http://schemas.openxmlformats.org/officeDocument/2006/relationships/notesSlide" Target="/ppt/notesSlides/notesSlide3.xml" Id="Rac02f35a904949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ba5ac386bf4402" /><Relationship Type="http://schemas.openxmlformats.org/officeDocument/2006/relationships/notesSlide" Target="/ppt/notesSlides/notesSlide4.xml" Id="R8fd30e042cdb42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5ac114275b4b6e" /><Relationship Type="http://schemas.openxmlformats.org/officeDocument/2006/relationships/notesSlide" Target="/ppt/notesSlides/notesSlide5.xml" Id="R9c2f8e9bb6b043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607ab14bc44a86" /><Relationship Type="http://schemas.openxmlformats.org/officeDocument/2006/relationships/notesSlide" Target="/ppt/notesSlides/notesSlide6.xml" Id="Ra046fdf5695e44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1e13f8dee444b4" /><Relationship Type="http://schemas.openxmlformats.org/officeDocument/2006/relationships/notesSlide" Target="/ppt/notesSlides/notesSlide7.xml" Id="Rcd93e9f324e946fe"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00" name="HeaderTag"/>
          <p:cNvSpPr txBox="1"/>
          <p:nvPr/>
        </p:nvSpPr>
        <p:spPr>
          <a:xfrm xmlns:a="http://schemas.openxmlformats.org/drawingml/2006/main">
            <a:off x="540000" y="360000"/>
            <a:ext cx="306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EVIDENCE PIPELINE &amp; TRIAGE</a:t>
            </a:r>
          </a:p>
        </p:txBody>
      </p:sp>
      <p:sp>
        <p:nvSpPr>
          <p:cNvPr id="100001"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FFFFFF"/>
                </a:solidFill>
              </a:rPr>
              <a:t>Evidence Ranking &amp; Deduplication</a:t>
            </a:r>
          </a:p>
        </p:txBody>
      </p:sp>
      <p:sp>
        <p:nvSpPr>
          <p:cNvPr id="100002" name="ProblemBox"/>
          <p:cNvSpPr txBox="1"/>
          <p:nvPr/>
        </p:nvSpPr>
        <p:spPr>
          <a:xfrm xmlns:a="http://schemas.openxmlformats.org/drawingml/2006/main">
            <a:off x="540000" y="1368000"/>
            <a:ext cx="11088000" cy="864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600" b="1">
                <a:solidFill>
                  <a:srgbClr val="38BDF8"/>
                </a:solidFill>
              </a:rPr>
              <a:t>Problem Statement:</a:t>
            </a:r>
          </a:p>
          <a:p xmlns:a="http://schemas.openxmlformats.org/drawingml/2006/main">
            <a:r>
              <a:rPr lang="en-US" sz="1600" b="1">
                <a:solidFill>
                  <a:srgbClr val="38BDF8"/>
                </a:solidFill>
              </a:rPr>
              <a:t>How do we identify distinct, relevant, and impactful evidence from multiple sources and present it to the user in the right order?</a:t>
            </a:r>
          </a:p>
        </p:txBody>
      </p:sp>
      <p:sp>
        <p:nvSpPr>
          <p:cNvPr id="100003" name="RCABox"/>
          <p:cNvSpPr txBox="1"/>
          <p:nvPr/>
        </p:nvSpPr>
        <p:spPr>
          <a:xfrm xmlns:a="http://schemas.openxmlformats.org/drawingml/2006/main">
            <a:off x="540000" y="2376000"/>
            <a:ext cx="5328000" cy="280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a:solidFill>
                  <a:srgbClr val="F8FAFC"/>
                </a:solidFill>
              </a:rPr>
              <a:t>Root Cause Analysis (RCA)</a:t>
            </a:r>
          </a:p>
          <a:p xmlns:a="http://schemas.openxmlformats.org/drawingml/2006/main">
            <a:r>
              <a:rPr lang="en-US" sz="1500">
                <a:solidFill>
                  <a:srgbClr val="F8FAFC"/>
                </a:solidFill>
              </a:rPr>
              <a:t/>
            </a:r>
          </a:p>
          <a:p xmlns:a="http://schemas.openxmlformats.org/drawingml/2006/main">
            <a:r>
              <a:rPr lang="en-US" sz="1500">
                <a:solidFill>
                  <a:srgbClr val="F8FAFC"/>
                </a:solidFill>
              </a:rPr>
              <a:t>“The application was OOMKilled because of a memory leak.”</a:t>
            </a:r>
          </a:p>
          <a:p xmlns:a="http://schemas.openxmlformats.org/drawingml/2006/main">
            <a:r>
              <a:rPr lang="en-US" sz="1500">
                <a:solidFill>
                  <a:srgbClr val="F8FAFC"/>
                </a:solidFill>
              </a:rPr>
              <a:t/>
            </a:r>
          </a:p>
          <a:p xmlns:a="http://schemas.openxmlformats.org/drawingml/2006/main">
            <a:r>
              <a:rPr lang="en-US" sz="1500">
                <a:solidFill>
                  <a:srgbClr val="F8FAFC"/>
                </a:solidFill>
              </a:rPr>
              <a:t>Context:</a:t>
            </a:r>
          </a:p>
          <a:p xmlns:a="http://schemas.openxmlformats.org/drawingml/2006/main">
            <a:r>
              <a:rPr lang="en-US" sz="1500">
                <a:solidFill>
                  <a:srgbClr val="F8FAFC"/>
                </a:solidFill>
              </a:rPr>
              <a:t>Multiple automated tools, metric rules, and diagnostic LLM agents generate raw evidence observations during incident investigation.</a:t>
            </a:r>
          </a:p>
        </p:txBody>
      </p:sp>
      <p:sp>
        <p:nvSpPr>
          <p:cNvPr id="100004" name="EvidenceBox"/>
          <p:cNvSpPr txBox="1"/>
          <p:nvPr/>
        </p:nvSpPr>
        <p:spPr>
          <a:xfrm xmlns:a="http://schemas.openxmlformats.org/drawingml/2006/main">
            <a:off x="6300000" y="2376000"/>
            <a:ext cx="5328000" cy="280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a:solidFill>
                  <a:srgbClr val="CBD5E1"/>
                </a:solidFill>
              </a:rPr>
              <a:t>Available Raw Evidence Pool</a:t>
            </a:r>
          </a:p>
          <a:p xmlns:a="http://schemas.openxmlformats.org/drawingml/2006/main">
            <a:r>
              <a:rPr lang="en-US" sz="1500">
                <a:solidFill>
                  <a:srgbClr val="CBD5E1"/>
                </a:solidFill>
              </a:rPr>
              <a:t/>
            </a:r>
          </a:p>
          <a:p xmlns:a="http://schemas.openxmlformats.org/drawingml/2006/main">
            <a:r>
              <a:rPr lang="en-US" sz="1500">
                <a:solidFill>
                  <a:srgbClr val="CBD5E1"/>
                </a:solidFill>
              </a:rPr>
              <a:t>• OOMKilled event</a:t>
            </a:r>
          </a:p>
          <a:p xmlns:a="http://schemas.openxmlformats.org/drawingml/2006/main">
            <a:r>
              <a:rPr lang="en-US" sz="1500">
                <a:solidFill>
                  <a:srgbClr val="CBD5E1"/>
                </a:solidFill>
              </a:rPr>
              <a:t>• Memory usage increased</a:t>
            </a:r>
          </a:p>
          <a:p xmlns:a="http://schemas.openxmlformats.org/drawingml/2006/main">
            <a:r>
              <a:rPr lang="en-US" sz="1500">
                <a:solidFill>
                  <a:srgbClr val="CBD5E1"/>
                </a:solidFill>
              </a:rPr>
              <a:t>• Heap usage was 98%</a:t>
            </a:r>
          </a:p>
          <a:p xmlns:a="http://schemas.openxmlformats.org/drawingml/2006/main">
            <a:r>
              <a:rPr lang="en-US" sz="1500">
                <a:solidFill>
                  <a:srgbClr val="CBD5E1"/>
                </a:solidFill>
              </a:rPr>
              <a:t>• GC pressure increased</a:t>
            </a:r>
          </a:p>
          <a:p xmlns:a="http://schemas.openxmlformats.org/drawingml/2006/main">
            <a:r>
              <a:rPr lang="en-US" sz="1500">
                <a:solidFill>
                  <a:srgbClr val="CBD5E1"/>
                </a:solidFill>
              </a:rPr>
              <a:t>• Request rate increased</a:t>
            </a:r>
          </a:p>
          <a:p xmlns:a="http://schemas.openxmlformats.org/drawingml/2006/main">
            <a:r>
              <a:rPr lang="en-US" sz="1500">
                <a:solidFill>
                  <a:srgbClr val="CBD5E1"/>
                </a:solidFill>
              </a:rPr>
              <a:t>• Container memory limit was 256Mi</a:t>
            </a:r>
          </a:p>
          <a:p xmlns:a="http://schemas.openxmlformats.org/drawingml/2006/main">
            <a:r>
              <a:rPr lang="en-US" sz="1500">
                <a:solidFill>
                  <a:srgbClr val="CBD5E1"/>
                </a:solidFill>
              </a:rPr>
              <a:t>• Recommendation to increase memory</a:t>
            </a:r>
          </a:p>
        </p:txBody>
      </p:sp>
      <p:sp>
        <p:nvSpPr>
          <p:cNvPr id="100005" name="ChallengeBanner"/>
          <p:cNvSpPr txBox="1"/>
          <p:nvPr/>
        </p:nvSpPr>
        <p:spPr>
          <a:xfrm xmlns:a="http://schemas.openxmlformats.org/drawingml/2006/main">
            <a:off x="540000" y="5328000"/>
            <a:ext cx="11088000" cy="792000"/>
          </a:xfrm>
          <a:prstGeom xmlns:a="http://schemas.openxmlformats.org/drawingml/2006/main" prst="rect">
            <a:avLst/>
          </a:prstGeom>
          <a:solidFill xmlns:a="http://schemas.openxmlformats.org/drawingml/2006/main">
            <a:srgbClr val="334155"/>
          </a:solidFill>
        </p:spPr>
        <p:txBody>
          <a:bodyPr xmlns:a="http://schemas.openxmlformats.org/drawingml/2006/main"/>
          <a:lstStyle xmlns:a="http://schemas.openxmlformats.org/drawingml/2006/main"/>
          <a:p xmlns:a="http://schemas.openxmlformats.org/drawingml/2006/main">
            <a:r>
              <a:rPr lang="en-US" sz="1600" b="1">
                <a:solidFill>
                  <a:srgbClr val="F8FAFC"/>
                </a:solidFill>
              </a:rPr>
              <a:t>⚠️ The Core Challenge: Not all evidence is unique, equally relevant, or equally impactful to the RCA.</a:t>
            </a:r>
          </a:p>
        </p:txBody>
      </p:sp>
    </p:spTree>
  </p:cSld>
</p:sld>
</file>

<file path=ppt/slides/slide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06" name="HeaderTag"/>
          <p:cNvSpPr txBox="1"/>
          <p:nvPr/>
        </p:nvSpPr>
        <p:spPr>
          <a:xfrm xmlns:a="http://schemas.openxmlformats.org/drawingml/2006/main">
            <a:off x="540000" y="360000"/>
            <a:ext cx="288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EVALUATION FRAMEWORK</a:t>
            </a:r>
          </a:p>
        </p:txBody>
      </p:sp>
      <p:sp>
        <p:nvSpPr>
          <p:cNvPr id="100007"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How Do We Decide What Evidence to Show?</a:t>
            </a:r>
          </a:p>
        </p:txBody>
      </p:sp>
      <p:sp>
        <p:nvSpPr>
          <p:cNvPr id="100008" name="Dim1Card"/>
          <p:cNvSpPr txBox="1"/>
          <p:nvPr/>
        </p:nvSpPr>
        <p:spPr>
          <a:xfrm xmlns:a="http://schemas.openxmlformats.org/drawingml/2006/main">
            <a:off x="540000" y="1440000"/>
            <a:ext cx="5328000" cy="2304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a:solidFill>
                  <a:srgbClr val="F8FAFC"/>
                </a:solidFill>
              </a:rPr>
              <a:t>Dimension 1 — Evidence Strength</a:t>
            </a:r>
          </a:p>
          <a:p xmlns:a="http://schemas.openxmlformats.org/drawingml/2006/main">
            <a:r>
              <a:rPr lang="en-US" sz="1500">
                <a:solidFill>
                  <a:srgbClr val="F8FAFC"/>
                </a:solidFill>
              </a:rPr>
              <a:t/>
            </a:r>
          </a:p>
          <a:p xmlns:a="http://schemas.openxmlformats.org/drawingml/2006/main">
            <a:r>
              <a:rPr lang="en-US" sz="1500">
                <a:solidFill>
                  <a:srgbClr val="F8FAFC"/>
                </a:solidFill>
              </a:rPr>
              <a:t>How strongly does the evidence support the finding?</a:t>
            </a:r>
          </a:p>
          <a:p xmlns:a="http://schemas.openxmlformats.org/drawingml/2006/main">
            <a:r>
              <a:rPr lang="en-US" sz="1500">
                <a:solidFill>
                  <a:srgbClr val="F8FAFC"/>
                </a:solidFill>
              </a:rPr>
              <a:t/>
            </a:r>
          </a:p>
          <a:p xmlns:a="http://schemas.openxmlformats.org/drawingml/2006/main">
            <a:r>
              <a:rPr lang="en-US" sz="1500">
                <a:solidFill>
                  <a:srgbClr val="F8FAFC"/>
                </a:solidFill>
              </a:rPr>
              <a:t>• Measures factual validity and confidence</a:t>
            </a:r>
          </a:p>
          <a:p xmlns:a="http://schemas.openxmlformats.org/drawingml/2006/main">
            <a:r>
              <a:rPr lang="en-US" sz="1500">
                <a:solidFill>
                  <a:srgbClr val="F8FAFC"/>
                </a:solidFill>
              </a:rPr>
              <a:t>• Derived from signal quality, metric thresholds, and rule determinism</a:t>
            </a:r>
          </a:p>
          <a:p xmlns:a="http://schemas.openxmlformats.org/drawingml/2006/main">
            <a:r>
              <a:rPr lang="en-US" sz="1500">
                <a:solidFill>
                  <a:srgbClr val="F8FAFC"/>
                </a:solidFill>
              </a:rPr>
              <a:t>• Strong evidence is objectively verified (e.g. hard container limits, OOM logs)</a:t>
            </a:r>
          </a:p>
        </p:txBody>
      </p:sp>
      <p:sp>
        <p:nvSpPr>
          <p:cNvPr id="100009" name="Dim2Card"/>
          <p:cNvSpPr txBox="1"/>
          <p:nvPr/>
        </p:nvSpPr>
        <p:spPr>
          <a:xfrm xmlns:a="http://schemas.openxmlformats.org/drawingml/2006/main">
            <a:off x="6300000" y="1440000"/>
            <a:ext cx="5328000" cy="2304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a:solidFill>
                  <a:srgbClr val="F8FAFC"/>
                </a:solidFill>
              </a:rPr>
              <a:t>Dimension 2 — Deduplication + RCA Relevance</a:t>
            </a:r>
          </a:p>
          <a:p xmlns:a="http://schemas.openxmlformats.org/drawingml/2006/main">
            <a:r>
              <a:rPr lang="en-US" sz="1500">
                <a:solidFill>
                  <a:srgbClr val="F8FAFC"/>
                </a:solidFill>
              </a:rPr>
              <a:t/>
            </a:r>
          </a:p>
          <a:p xmlns:a="http://schemas.openxmlformats.org/drawingml/2006/main">
            <a:r>
              <a:rPr lang="en-US" sz="1500">
                <a:solidFill>
                  <a:srgbClr val="F8FAFC"/>
                </a:solidFill>
              </a:rPr>
              <a:t>How unique and relevant is it to this specific RCA?</a:t>
            </a:r>
          </a:p>
          <a:p xmlns:a="http://schemas.openxmlformats.org/drawingml/2006/main">
            <a:r>
              <a:rPr lang="en-US" sz="1500">
                <a:solidFill>
                  <a:srgbClr val="F8FAFC"/>
                </a:solidFill>
              </a:rPr>
              <a:t/>
            </a:r>
          </a:p>
          <a:p xmlns:a="http://schemas.openxmlformats.org/drawingml/2006/main">
            <a:r>
              <a:rPr lang="en-US" sz="1500">
                <a:solidFill>
                  <a:srgbClr val="F8FAFC"/>
                </a:solidFill>
              </a:rPr>
              <a:t>1. Deduplicate: Remove redundant / overlapping evidence</a:t>
            </a:r>
          </a:p>
          <a:p xmlns:a="http://schemas.openxmlformats.org/drawingml/2006/main">
            <a:r>
              <a:rPr lang="en-US" sz="1500">
                <a:solidFill>
                  <a:srgbClr val="F8FAFC"/>
                </a:solidFill>
              </a:rPr>
              <a:t>2. Relevance: Determine how directly each item validates the RCA</a:t>
            </a:r>
          </a:p>
          <a:p xmlns:a="http://schemas.openxmlformats.org/drawingml/2006/main">
            <a:r>
              <a:rPr lang="en-US" sz="1500">
                <a:solidFill>
                  <a:srgbClr val="F8FAFC"/>
                </a:solidFill>
              </a:rPr>
              <a:t/>
            </a:r>
          </a:p>
          <a:p xmlns:a="http://schemas.openxmlformats.org/drawingml/2006/main">
            <a:r>
              <a:rPr lang="en-US" sz="1500">
                <a:solidFill>
                  <a:srgbClr val="F8FAFC"/>
                </a:solidFill>
              </a:rPr>
              <a:t>📌 Principle: Final Ordering = Strength + RCA Relevance</a:t>
            </a:r>
          </a:p>
        </p:txBody>
      </p:sp>
      <p:sp>
        <p:nvSpPr>
          <p:cNvPr id="100010" name="FlowBanner"/>
          <p:cNvSpPr txBox="1"/>
          <p:nvPr/>
        </p:nvSpPr>
        <p:spPr>
          <a:xfrm xmlns:a="http://schemas.openxmlformats.org/drawingml/2006/main">
            <a:off x="540000" y="3888000"/>
            <a:ext cx="11088000" cy="2232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a:solidFill>
                  <a:srgbClr val="CBD5E1"/>
                </a:solidFill>
              </a:rPr>
              <a:t>End-to-End Evidence Selection Flow:</a:t>
            </a:r>
          </a:p>
          <a:p xmlns:a="http://schemas.openxmlformats.org/drawingml/2006/main">
            <a:r>
              <a:rPr lang="en-US" sz="1500">
                <a:solidFill>
                  <a:srgbClr val="CBD5E1"/>
                </a:solidFill>
              </a:rPr>
              <a:t/>
            </a:r>
          </a:p>
          <a:p xmlns:a="http://schemas.openxmlformats.org/drawingml/2006/main">
            <a:r>
              <a:rPr lang="en-US" sz="1500">
                <a:solidFill>
                  <a:srgbClr val="CBD5E1"/>
                </a:solidFill>
              </a:rPr>
              <a:t>Multi-Source Evidence  ➔  Deduplicate  ➔  Score RCA Relevance  ➔  Combine Strength + Relevance  ➔  Rank Evidence  ➔  Top Evidence to UX</a:t>
            </a:r>
          </a:p>
          <a:p xmlns:a="http://schemas.openxmlformats.org/drawingml/2006/main">
            <a:r>
              <a:rPr lang="en-US" sz="1500">
                <a:solidFill>
                  <a:srgbClr val="CBD5E1"/>
                </a:solidFill>
              </a:rPr>
              <a:t/>
            </a:r>
          </a:p>
          <a:p xmlns:a="http://schemas.openxmlformats.org/drawingml/2006/main">
            <a:r>
              <a:rPr lang="en-US" sz="1500">
                <a:solidFill>
                  <a:srgbClr val="CBD5E1"/>
                </a:solidFill>
              </a:rPr>
              <a:t>1. Ingest raw items from rules, logs, metrics &amp; LLM</a:t>
            </a:r>
          </a:p>
          <a:p xmlns:a="http://schemas.openxmlformats.org/drawingml/2006/main">
            <a:r>
              <a:rPr lang="en-US" sz="1500">
                <a:solidFill>
                  <a:srgbClr val="CBD5E1"/>
                </a:solidFill>
              </a:rPr>
              <a:t>2. Consolidate duplicates &amp; semantic aliases into canonical items</a:t>
            </a:r>
          </a:p>
          <a:p xmlns:a="http://schemas.openxmlformats.org/drawingml/2006/main">
            <a:r>
              <a:rPr lang="en-US" sz="1500">
                <a:solidFill>
                  <a:srgbClr val="CBD5E1"/>
                </a:solidFill>
              </a:rPr>
              <a:t>3. Assess specific contextual relevance against the hypothesized RCA</a:t>
            </a:r>
          </a:p>
          <a:p xmlns:a="http://schemas.openxmlformats.org/drawingml/2006/main">
            <a:r>
              <a:rPr lang="en-US" sz="1500">
                <a:solidFill>
                  <a:srgbClr val="CBD5E1"/>
                </a:solidFill>
              </a:rPr>
              <a:t>4. Synthesize strength &amp; relevance to prioritize high-value insights for SREs</a:t>
            </a:r>
          </a:p>
        </p:txBody>
      </p:sp>
    </p:spTree>
  </p:cSld>
</p:sld>
</file>

<file path=ppt/slides/slide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11" name="HeaderTag"/>
          <p:cNvSpPr txBox="1"/>
          <p:nvPr/>
        </p:nvSpPr>
        <p:spPr>
          <a:xfrm xmlns:a="http://schemas.openxmlformats.org/drawingml/2006/main">
            <a:off x="540000" y="360000"/>
            <a:ext cx="288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DIMENSION 2 — STEP 1</a:t>
            </a:r>
          </a:p>
        </p:txBody>
      </p:sp>
      <p:sp>
        <p:nvSpPr>
          <p:cNvPr id="100012"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Dimension 2 — Step 1: Deduplicate Evidence</a:t>
            </a:r>
          </a:p>
        </p:txBody>
      </p:sp>
      <p:sp>
        <p:nvSpPr>
          <p:cNvPr id="100013" name="WhyDedupCard"/>
          <p:cNvSpPr txBox="1"/>
          <p:nvPr/>
        </p:nvSpPr>
        <p:spPr>
          <a:xfrm xmlns:a="http://schemas.openxmlformats.org/drawingml/2006/main">
            <a:off x="540000" y="1440000"/>
            <a:ext cx="5328000" cy="316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Why Deduplicate?</a:t>
            </a:r>
          </a:p>
          <a:p xmlns:a="http://schemas.openxmlformats.org/drawingml/2006/main">
            <a:r>
              <a:rPr lang="en-US" sz="1400">
                <a:solidFill>
                  <a:srgbClr val="F8FAFC"/>
                </a:solidFill>
              </a:rPr>
              <a:t/>
            </a:r>
          </a:p>
          <a:p xmlns:a="http://schemas.openxmlformats.org/drawingml/2006/main">
            <a:r>
              <a:rPr lang="en-US" sz="1400">
                <a:solidFill>
                  <a:srgbClr val="F8FAFC"/>
                </a:solidFill>
              </a:rPr>
              <a:t>The same underlying fact can come from multiple sources or be expressed differently.</a:t>
            </a:r>
          </a:p>
          <a:p xmlns:a="http://schemas.openxmlformats.org/drawingml/2006/main">
            <a:r>
              <a:rPr lang="en-US" sz="1400">
                <a:solidFill>
                  <a:srgbClr val="F8FAFC"/>
                </a:solidFill>
              </a:rPr>
              <a:t/>
            </a:r>
          </a:p>
          <a:p xmlns:a="http://schemas.openxmlformats.org/drawingml/2006/main">
            <a:r>
              <a:rPr lang="en-US" sz="1400">
                <a:solidFill>
                  <a:srgbClr val="F8FAFC"/>
                </a:solidFill>
              </a:rPr>
              <a:t>Multi-Source Duplication Examples:</a:t>
            </a:r>
          </a:p>
          <a:p xmlns:a="http://schemas.openxmlformats.org/drawingml/2006/main">
            <a:r>
              <a:rPr lang="en-US" sz="1400">
                <a:solidFill>
                  <a:srgbClr val="F8FAFC"/>
                </a:solidFill>
              </a:rPr>
              <a:t/>
            </a:r>
          </a:p>
          <a:p xmlns:a="http://schemas.openxmlformats.org/drawingml/2006/main">
            <a:r>
              <a:rPr lang="en-US" sz="1400">
                <a:solidFill>
                  <a:srgbClr val="F8FAFC"/>
                </a:solidFill>
              </a:rPr>
              <a:t>• 'Container memory limit is 256Mi' (Rule Engine)</a:t>
            </a:r>
          </a:p>
          <a:p xmlns:a="http://schemas.openxmlformats.org/drawingml/2006/main">
            <a:r>
              <a:rPr lang="en-US" sz="1400">
                <a:solidFill>
                  <a:srgbClr val="F8FAFC"/>
                </a:solidFill>
              </a:rPr>
              <a:t>   vs. 'Pod is capped at 256Mi memory' (LLM)</a:t>
            </a:r>
          </a:p>
          <a:p xmlns:a="http://schemas.openxmlformats.org/drawingml/2006/main">
            <a:r>
              <a:rPr lang="en-US" sz="1400">
                <a:solidFill>
                  <a:srgbClr val="F8FAFC"/>
                </a:solidFill>
              </a:rPr>
              <a:t>   ➔ SAME underlying fact</a:t>
            </a:r>
          </a:p>
          <a:p xmlns:a="http://schemas.openxmlformats.org/drawingml/2006/main">
            <a:r>
              <a:rPr lang="en-US" sz="1400">
                <a:solidFill>
                  <a:srgbClr val="F8FAFC"/>
                </a:solidFill>
              </a:rPr>
              <a:t/>
            </a:r>
          </a:p>
          <a:p xmlns:a="http://schemas.openxmlformats.org/drawingml/2006/main">
            <a:r>
              <a:rPr lang="en-US" sz="1400">
                <a:solidFill>
                  <a:srgbClr val="F8FAFC"/>
                </a:solidFill>
              </a:rPr>
              <a:t>• 'Heap usage is 98%' (Rule Engine)</a:t>
            </a:r>
          </a:p>
          <a:p xmlns:a="http://schemas.openxmlformats.org/drawingml/2006/main">
            <a:r>
              <a:rPr lang="en-US" sz="1400">
                <a:solidFill>
                  <a:srgbClr val="F8FAFC"/>
                </a:solidFill>
              </a:rPr>
              <a:t>   vs. 'JVM heap is nearly full (~98%)' (LLM)</a:t>
            </a:r>
          </a:p>
          <a:p xmlns:a="http://schemas.openxmlformats.org/drawingml/2006/main">
            <a:r>
              <a:rPr lang="en-US" sz="1400">
                <a:solidFill>
                  <a:srgbClr val="F8FAFC"/>
                </a:solidFill>
              </a:rPr>
              <a:t>   ➔ SAME underlying fact</a:t>
            </a:r>
          </a:p>
        </p:txBody>
      </p:sp>
      <p:sp>
        <p:nvSpPr>
          <p:cNvPr id="100014" name="WhatToConsiderCard"/>
          <p:cNvSpPr txBox="1"/>
          <p:nvPr/>
        </p:nvSpPr>
        <p:spPr>
          <a:xfrm xmlns:a="http://schemas.openxmlformats.org/drawingml/2006/main">
            <a:off x="6300000" y="1440000"/>
            <a:ext cx="5328000" cy="316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What Should Deduplication Consider?</a:t>
            </a:r>
          </a:p>
          <a:p xmlns:a="http://schemas.openxmlformats.org/drawingml/2006/main">
            <a:r>
              <a:rPr lang="en-US" sz="1400">
                <a:solidFill>
                  <a:srgbClr val="F8FAFC"/>
                </a:solidFill>
              </a:rPr>
              <a:t/>
            </a:r>
          </a:p>
          <a:p xmlns:a="http://schemas.openxmlformats.org/drawingml/2006/main">
            <a:r>
              <a:rPr lang="en-US" sz="1400">
                <a:solidFill>
                  <a:srgbClr val="F8FAFC"/>
                </a:solidFill>
              </a:rPr>
              <a:t>• Semantic similarity: Are two statements saying the same thing?</a:t>
            </a:r>
          </a:p>
          <a:p xmlns:a="http://schemas.openxmlformats.org/drawingml/2006/main">
            <a:r>
              <a:rPr lang="en-US" sz="1400">
                <a:solidFill>
                  <a:srgbClr val="F8FAFC"/>
                </a:solidFill>
              </a:rPr>
              <a:t>• Same underlying fact: Do they describe the identical observation?</a:t>
            </a:r>
          </a:p>
          <a:p xmlns:a="http://schemas.openxmlformats.org/drawingml/2006/main">
            <a:r>
              <a:rPr lang="en-US" sz="1400">
                <a:solidFill>
                  <a:srgbClr val="F8FAFC"/>
                </a:solidFill>
              </a:rPr>
              <a:t>• Same metric / value: Derived from the same telemetry source?</a:t>
            </a:r>
          </a:p>
          <a:p xmlns:a="http://schemas.openxmlformats.org/drawingml/2006/main">
            <a:r>
              <a:rPr lang="en-US" sz="1400">
                <a:solidFill>
                  <a:srgbClr val="F8FAFC"/>
                </a:solidFill>
              </a:rPr>
              <a:t>• Same finding / claim: Sharing identical diagnostic intent?</a:t>
            </a:r>
          </a:p>
          <a:p xmlns:a="http://schemas.openxmlformats.org/drawingml/2006/main">
            <a:r>
              <a:rPr lang="en-US" sz="1400">
                <a:solidFill>
                  <a:srgbClr val="F8FAFC"/>
                </a:solidFill>
              </a:rPr>
              <a:t>• Source reliability: Corroboration across tools</a:t>
            </a:r>
          </a:p>
          <a:p xmlns:a="http://schemas.openxmlformats.org/drawingml/2006/main">
            <a:r>
              <a:rPr lang="en-US" sz="1400">
                <a:solidFill>
                  <a:srgbClr val="F8FAFC"/>
                </a:solidFill>
              </a:rPr>
              <a:t>• Complementary vs. redundant: Does item B add new context?</a:t>
            </a:r>
          </a:p>
        </p:txBody>
      </p:sp>
      <p:sp>
        <p:nvSpPr>
          <p:cNvPr id="100015" name="ImportantDistinction"/>
          <p:cNvSpPr txBox="1"/>
          <p:nvPr/>
        </p:nvSpPr>
        <p:spPr>
          <a:xfrm xmlns:a="http://schemas.openxmlformats.org/drawingml/2006/main">
            <a:off x="540000" y="4752000"/>
            <a:ext cx="11088000" cy="1368000"/>
          </a:xfrm>
          <a:prstGeom xmlns:a="http://schemas.openxmlformats.org/drawingml/2006/main" prst="rect">
            <a:avLst/>
          </a:prstGeom>
          <a:solidFill xmlns:a="http://schemas.openxmlformats.org/drawingml/2006/main">
            <a:srgbClr val="334155"/>
          </a:solidFill>
        </p:spPr>
        <p:txBody>
          <a:bodyPr xmlns:a="http://schemas.openxmlformats.org/drawingml/2006/main"/>
          <a:lstStyle xmlns:a="http://schemas.openxmlformats.org/drawingml/2006/main"/>
          <a:p xmlns:a="http://schemas.openxmlformats.org/drawingml/2006/main">
            <a:r>
              <a:rPr lang="en-US" sz="1500" b="1">
                <a:solidFill>
                  <a:srgbClr val="F8FAFC"/>
                </a:solidFill>
              </a:rPr>
              <a:t>⚠️ Crucial Distinction: Do NOT merge evidence merely because it is related.</a:t>
            </a:r>
          </a:p>
          <a:p xmlns:a="http://schemas.openxmlformats.org/drawingml/2006/main">
            <a:r>
              <a:rPr lang="en-US" sz="1500" b="1">
                <a:solidFill>
                  <a:srgbClr val="F8FAFC"/>
                </a:solidFill>
              </a:rPr>
              <a:t/>
            </a:r>
          </a:p>
          <a:p xmlns:a="http://schemas.openxmlformats.org/drawingml/2006/main">
            <a:r>
              <a:rPr lang="en-US" sz="1500" b="1">
                <a:solidFill>
                  <a:srgbClr val="F8FAFC"/>
                </a:solidFill>
              </a:rPr>
              <a:t>Example: 'Heap usage is 98%' vs. '15 Full GC events occurred'</a:t>
            </a:r>
          </a:p>
          <a:p xmlns:a="http://schemas.openxmlformats.org/drawingml/2006/main">
            <a:r>
              <a:rPr lang="en-US" sz="1500" b="1">
                <a:solidFill>
                  <a:srgbClr val="F8FAFC"/>
                </a:solidFill>
              </a:rPr>
              <a:t>➔ They are related symptoms, but represent distinct facts (utilization vs pause frequency). Both should remain.</a:t>
            </a:r>
          </a:p>
        </p:txBody>
      </p:sp>
    </p:spTree>
  </p:cSld>
</p:sld>
</file>

<file path=ppt/slides/slide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16" name="HeaderTag"/>
          <p:cNvSpPr txBox="1"/>
          <p:nvPr/>
        </p:nvSpPr>
        <p:spPr>
          <a:xfrm xmlns:a="http://schemas.openxmlformats.org/drawingml/2006/main">
            <a:off x="540000" y="360000"/>
            <a:ext cx="288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DIMENSION 2 — STEP 2</a:t>
            </a:r>
          </a:p>
        </p:txBody>
      </p:sp>
      <p:sp>
        <p:nvSpPr>
          <p:cNvPr id="100017"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Dimension 2 — Step 2: Score Relevance to the RCA</a:t>
            </a:r>
          </a:p>
        </p:txBody>
      </p:sp>
      <p:sp>
        <p:nvSpPr>
          <p:cNvPr id="100018" name="QuestionBox"/>
          <p:cNvSpPr txBox="1"/>
          <p:nvPr/>
        </p:nvSpPr>
        <p:spPr>
          <a:xfrm xmlns:a="http://schemas.openxmlformats.org/drawingml/2006/main">
            <a:off x="540000" y="1368000"/>
            <a:ext cx="11088000" cy="100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b="1">
                <a:solidFill>
                  <a:srgbClr val="38BDF8"/>
                </a:solidFill>
              </a:rPr>
              <a:t>The Key Question: How much does this evidence matter to the specific RCA we are trying to validate?</a:t>
            </a:r>
          </a:p>
          <a:p xmlns:a="http://schemas.openxmlformats.org/drawingml/2006/main">
            <a:r>
              <a:rPr lang="en-US" sz="1500" b="1">
                <a:solidFill>
                  <a:srgbClr val="38BDF8"/>
                </a:solidFill>
              </a:rPr>
              <a:t/>
            </a:r>
          </a:p>
          <a:p xmlns:a="http://schemas.openxmlformats.org/drawingml/2006/main">
            <a:r>
              <a:rPr lang="en-US" sz="1500" b="1">
                <a:solidFill>
                  <a:srgbClr val="38BDF8"/>
                </a:solidFill>
              </a:rPr>
              <a:t>Example Target RCA:</a:t>
            </a:r>
          </a:p>
          <a:p xmlns:a="http://schemas.openxmlformats.org/drawingml/2006/main">
            <a:r>
              <a:rPr lang="en-US" sz="1500" b="1">
                <a:solidFill>
                  <a:srgbClr val="38BDF8"/>
                </a:solidFill>
              </a:rPr>
              <a:t>“JVM heap configuration combined with non-heap overhead exceeded the 256Mi container limit.”</a:t>
            </a:r>
          </a:p>
        </p:txBody>
      </p:sp>
      <p:sp>
        <p:nvSpPr>
          <p:cNvPr id="100019" name="MatrixBox"/>
          <p:cNvSpPr txBox="1"/>
          <p:nvPr/>
        </p:nvSpPr>
        <p:spPr>
          <a:xfrm xmlns:a="http://schemas.openxmlformats.org/drawingml/2006/main">
            <a:off x="540000" y="2520000"/>
            <a:ext cx="11088000" cy="2664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CBD5E1"/>
                </a:solidFill>
              </a:rPr>
              <a:t>Evidence Relevance Evaluation Matrix:</a:t>
            </a:r>
          </a:p>
          <a:p xmlns:a="http://schemas.openxmlformats.org/drawingml/2006/main">
            <a:r>
              <a:rPr lang="en-US" sz="1400">
                <a:solidFill>
                  <a:srgbClr val="CBD5E1"/>
                </a:solidFill>
              </a:rPr>
              <a:t/>
            </a:r>
          </a:p>
          <a:p xmlns:a="http://schemas.openxmlformats.org/drawingml/2006/main">
            <a:r>
              <a:rPr lang="en-US" sz="1400">
                <a:solidFill>
                  <a:srgbClr val="CBD5E1"/>
                </a:solidFill>
              </a:rPr>
              <a:t>Evidence Item                                     Strength      RCA Relevance      Diagnostic Rationale</a:t>
            </a:r>
          </a:p>
          <a:p xmlns:a="http://schemas.openxmlformats.org/drawingml/2006/main">
            <a:r>
              <a:rPr lang="en-US" sz="1400">
                <a:solidFill>
                  <a:srgbClr val="CBD5E1"/>
                </a:solidFill>
              </a:rPr>
              <a:t>─────────────────────────────────────────────────────────────────────────────────────────────</a:t>
            </a:r>
          </a:p>
          <a:p xmlns:a="http://schemas.openxmlformats.org/drawingml/2006/main">
            <a:r>
              <a:rPr lang="en-US" sz="1400">
                <a:solidFill>
                  <a:srgbClr val="CBD5E1"/>
                </a:solidFill>
              </a:rPr>
              <a:t>• Memory limit 256Mi                         Strong          Very High          Directly defines the container boundary</a:t>
            </a:r>
          </a:p>
          <a:p xmlns:a="http://schemas.openxmlformats.org/drawingml/2006/main">
            <a:r>
              <a:rPr lang="en-US" sz="1400">
                <a:solidFill>
                  <a:srgbClr val="CBD5E1"/>
                </a:solidFill>
              </a:rPr>
              <a:t>• Metaspace increased 45MB              Strong          High                    Validates non-heap overhead breach</a:t>
            </a:r>
          </a:p>
          <a:p xmlns:a="http://schemas.openxmlformats.org/drawingml/2006/main">
            <a:r>
              <a:rPr lang="en-US" sz="1400">
                <a:solidFill>
                  <a:srgbClr val="CBD5E1"/>
                </a:solidFill>
              </a:rPr>
              <a:t>• Heap usage 98%                               Strong          Medium               Relevant symptom, but not direct cause</a:t>
            </a:r>
          </a:p>
          <a:p xmlns:a="http://schemas.openxmlformats.org/drawingml/2006/main">
            <a:r>
              <a:rPr lang="en-US" sz="1400">
                <a:solidFill>
                  <a:srgbClr val="CBD5E1"/>
                </a:solidFill>
              </a:rPr>
              <a:t>• 15 Full GC events                             Strong          Medium               Symptom of memory exhaustion</a:t>
            </a:r>
          </a:p>
          <a:p xmlns:a="http://schemas.openxmlformats.org/drawingml/2006/main">
            <a:r>
              <a:rPr lang="en-US" sz="1400">
                <a:solidFill>
                  <a:srgbClr val="CBD5E1"/>
                </a:solidFill>
              </a:rPr>
              <a:t>• Increase memory recommendation    Strong          Low                     Remediation action, not proof</a:t>
            </a:r>
          </a:p>
        </p:txBody>
      </p:sp>
      <p:sp>
        <p:nvSpPr>
          <p:cNvPr id="100020" name="TakeawayBanner"/>
          <p:cNvSpPr txBox="1"/>
          <p:nvPr/>
        </p:nvSpPr>
        <p:spPr>
          <a:xfrm xmlns:a="http://schemas.openxmlformats.org/drawingml/2006/main">
            <a:off x="540000" y="5328000"/>
            <a:ext cx="11088000" cy="792000"/>
          </a:xfrm>
          <a:prstGeom xmlns:a="http://schemas.openxmlformats.org/drawingml/2006/main" prst="rect">
            <a:avLst/>
          </a:prstGeom>
          <a:solidFill xmlns:a="http://schemas.openxmlformats.org/drawingml/2006/main">
            <a:srgbClr val="0369A1"/>
          </a:solidFill>
        </p:spPr>
        <p:txBody>
          <a:bodyPr xmlns:a="http://schemas.openxmlformats.org/drawingml/2006/main"/>
          <a:lstStyle xmlns:a="http://schemas.openxmlformats.org/drawingml/2006/main"/>
          <a:p xmlns:a="http://schemas.openxmlformats.org/drawingml/2006/main">
            <a:r>
              <a:rPr lang="en-US" sz="1600" b="1">
                <a:solidFill>
                  <a:srgbClr val="FFFFFF"/>
                </a:solidFill>
              </a:rPr>
              <a:t>💡 Core Takeaway: Strong evidence does NOT necessarily mean highly relevant evidence.</a:t>
            </a:r>
          </a:p>
        </p:txBody>
      </p:sp>
    </p:spTree>
  </p:cSld>
</p:sld>
</file>

<file path=ppt/slides/slide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21" name="HeaderTag"/>
          <p:cNvSpPr txBox="1"/>
          <p:nvPr/>
        </p:nvSpPr>
        <p:spPr>
          <a:xfrm xmlns:a="http://schemas.openxmlformats.org/drawingml/2006/main">
            <a:off x="540000" y="360000"/>
            <a:ext cx="306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LLM PROMPT PARAMETERS</a:t>
            </a:r>
          </a:p>
        </p:txBody>
      </p:sp>
      <p:sp>
        <p:nvSpPr>
          <p:cNvPr id="100022"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What Should the LLM Consider When Deduplicating?</a:t>
            </a:r>
          </a:p>
        </p:txBody>
      </p:sp>
      <p:sp>
        <p:nvSpPr>
          <p:cNvPr id="100023" name="Param1"/>
          <p:cNvSpPr txBox="1"/>
          <p:nvPr/>
        </p:nvSpPr>
        <p:spPr>
          <a:xfrm xmlns:a="http://schemas.openxmlformats.org/drawingml/2006/main">
            <a:off x="540000" y="1440000"/>
            <a:ext cx="5328000" cy="93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1. Semantic Similarity</a:t>
            </a:r>
          </a:p>
          <a:p xmlns:a="http://schemas.openxmlformats.org/drawingml/2006/main">
            <a:r>
              <a:rPr lang="en-US" sz="1400">
                <a:solidFill>
                  <a:srgbClr val="F8FAFC"/>
                </a:solidFill>
              </a:rPr>
              <a:t>Are the two pieces of evidence expressing the same finding in different words?</a:t>
            </a:r>
          </a:p>
        </p:txBody>
      </p:sp>
      <p:sp>
        <p:nvSpPr>
          <p:cNvPr id="100024" name="Param2"/>
          <p:cNvSpPr txBox="1"/>
          <p:nvPr/>
        </p:nvSpPr>
        <p:spPr>
          <a:xfrm xmlns:a="http://schemas.openxmlformats.org/drawingml/2006/main">
            <a:off x="540000" y="2484000"/>
            <a:ext cx="5328000" cy="93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2. Underlying Fact</a:t>
            </a:r>
          </a:p>
          <a:p xmlns:a="http://schemas.openxmlformats.org/drawingml/2006/main">
            <a:r>
              <a:rPr lang="en-US" sz="1400">
                <a:solidFill>
                  <a:srgbClr val="F8FAFC"/>
                </a:solidFill>
              </a:rPr>
              <a:t>Do they represent the exact same system observation or event?</a:t>
            </a:r>
          </a:p>
        </p:txBody>
      </p:sp>
      <p:sp>
        <p:nvSpPr>
          <p:cNvPr id="100025" name="Param3"/>
          <p:cNvSpPr txBox="1"/>
          <p:nvPr/>
        </p:nvSpPr>
        <p:spPr>
          <a:xfrm xmlns:a="http://schemas.openxmlformats.org/drawingml/2006/main">
            <a:off x="540000" y="3528000"/>
            <a:ext cx="5328000" cy="93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3. Metric / Value</a:t>
            </a:r>
          </a:p>
          <a:p xmlns:a="http://schemas.openxmlformats.org/drawingml/2006/main">
            <a:r>
              <a:rPr lang="en-US" sz="1400">
                <a:solidFill>
                  <a:srgbClr val="F8FAFC"/>
                </a:solidFill>
              </a:rPr>
              <a:t>Are they derived from the identical telemetry metric, query, or threshold?</a:t>
            </a:r>
          </a:p>
        </p:txBody>
      </p:sp>
      <p:sp>
        <p:nvSpPr>
          <p:cNvPr id="100026" name="Param4"/>
          <p:cNvSpPr txBox="1"/>
          <p:nvPr/>
        </p:nvSpPr>
        <p:spPr>
          <a:xfrm xmlns:a="http://schemas.openxmlformats.org/drawingml/2006/main">
            <a:off x="6300000" y="1440000"/>
            <a:ext cx="5328000" cy="93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4. Time &amp; Context</a:t>
            </a:r>
          </a:p>
          <a:p xmlns:a="http://schemas.openxmlformats.org/drawingml/2006/main">
            <a:r>
              <a:rPr lang="en-US" sz="1400">
                <a:solidFill>
                  <a:srgbClr val="F8FAFC"/>
                </a:solidFill>
              </a:rPr>
              <a:t>Are they describing the same event occurring across the exact same timeline?</a:t>
            </a:r>
          </a:p>
        </p:txBody>
      </p:sp>
      <p:sp>
        <p:nvSpPr>
          <p:cNvPr id="100027" name="Param5"/>
          <p:cNvSpPr txBox="1"/>
          <p:nvPr/>
        </p:nvSpPr>
        <p:spPr>
          <a:xfrm xmlns:a="http://schemas.openxmlformats.org/drawingml/2006/main">
            <a:off x="6300000" y="2484000"/>
            <a:ext cx="5328000" cy="93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5. Source Corroboration</a:t>
            </a:r>
          </a:p>
          <a:p xmlns:a="http://schemas.openxmlformats.org/drawingml/2006/main">
            <a:r>
              <a:rPr lang="en-US" sz="1400">
                <a:solidFill>
                  <a:srgbClr val="F8FAFC"/>
                </a:solidFill>
              </a:rPr>
              <a:t>Are multiple independent tools independently reporting the same data point?</a:t>
            </a:r>
          </a:p>
        </p:txBody>
      </p:sp>
      <p:sp>
        <p:nvSpPr>
          <p:cNvPr id="100028" name="Param6"/>
          <p:cNvSpPr txBox="1"/>
          <p:nvPr/>
        </p:nvSpPr>
        <p:spPr>
          <a:xfrm xmlns:a="http://schemas.openxmlformats.org/drawingml/2006/main">
            <a:off x="6300000" y="3528000"/>
            <a:ext cx="5328000" cy="93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6. Complementary Information</a:t>
            </a:r>
          </a:p>
          <a:p xmlns:a="http://schemas.openxmlformats.org/drawingml/2006/main">
            <a:r>
              <a:rPr lang="en-US" sz="1400">
                <a:solidFill>
                  <a:srgbClr val="F8FAFC"/>
                </a:solidFill>
              </a:rPr>
              <a:t>Does each item add net-new diagnostic value? If yes ➔ Keep both!</a:t>
            </a:r>
          </a:p>
        </p:txBody>
      </p:sp>
      <p:sp>
        <p:nvSpPr>
          <p:cNvPr id="100029" name="OutputBox"/>
          <p:cNvSpPr txBox="1"/>
          <p:nvPr/>
        </p:nvSpPr>
        <p:spPr>
          <a:xfrm xmlns:a="http://schemas.openxmlformats.org/drawingml/2006/main">
            <a:off x="540000" y="4608000"/>
            <a:ext cx="11088000" cy="1512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b="1">
                <a:solidFill>
                  <a:srgbClr val="34D399"/>
                </a:solidFill>
              </a:rPr>
              <a:t>Structured LLM Output Contract:</a:t>
            </a:r>
          </a:p>
          <a:p xmlns:a="http://schemas.openxmlformats.org/drawingml/2006/main">
            <a:r>
              <a:rPr lang="en-US" sz="1500" b="1">
                <a:solidFill>
                  <a:srgbClr val="34D399"/>
                </a:solidFill>
              </a:rPr>
              <a:t>• Unique evidence IDs + Merged / representative evidence + Rationale</a:t>
            </a:r>
          </a:p>
          <a:p xmlns:a="http://schemas.openxmlformats.org/drawingml/2006/main">
            <a:r>
              <a:rPr lang="en-US" sz="1500" b="1">
                <a:solidFill>
                  <a:srgbClr val="34D399"/>
                </a:solidFill>
              </a:rPr>
              <a:t>• Ensures explainability, auditability, and lossless evidence consolidation.</a:t>
            </a:r>
          </a:p>
        </p:txBody>
      </p:sp>
    </p:spTree>
  </p:cSld>
</p:sld>
</file>

<file path=ppt/slides/slide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30" name="HeaderTag"/>
          <p:cNvSpPr txBox="1"/>
          <p:nvPr/>
        </p:nvSpPr>
        <p:spPr>
          <a:xfrm xmlns:a="http://schemas.openxmlformats.org/drawingml/2006/main">
            <a:off x="540000" y="360000"/>
            <a:ext cx="288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AGENT ARCHITECTURE</a:t>
            </a:r>
          </a:p>
        </p:txBody>
      </p:sp>
      <p:sp>
        <p:nvSpPr>
          <p:cNvPr id="100031"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LLM Agent: Deduplicate ➔ Score ➔ Rank</a:t>
            </a:r>
          </a:p>
        </p:txBody>
      </p:sp>
      <p:sp>
        <p:nvSpPr>
          <p:cNvPr id="100032" name="DiagramCard"/>
          <p:cNvSpPr txBox="1"/>
          <p:nvPr/>
        </p:nvSpPr>
        <p:spPr>
          <a:xfrm xmlns:a="http://schemas.openxmlformats.org/drawingml/2006/main">
            <a:off x="540000" y="1440000"/>
            <a:ext cx="5328000" cy="4680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38BDF8"/>
                </a:solidFill>
              </a:rPr>
              <a:t>Agent Workflow:</a:t>
            </a:r>
          </a:p>
          <a:p xmlns:a="http://schemas.openxmlformats.org/drawingml/2006/main">
            <a:r>
              <a:rPr lang="en-US" sz="1400">
                <a:solidFill>
                  <a:srgbClr val="38BDF8"/>
                </a:solidFill>
              </a:rPr>
              <a:t/>
            </a:r>
          </a:p>
          <a:p xmlns:a="http://schemas.openxmlformats.org/drawingml/2006/main">
            <a:r>
              <a:rPr lang="en-US" sz="1400">
                <a:solidFill>
                  <a:srgbClr val="38BDF8"/>
                </a:solidFill>
              </a:rPr>
              <a:t>         RCA Hypothesis + Candidate Evidence</a:t>
            </a:r>
          </a:p>
          <a:p xmlns:a="http://schemas.openxmlformats.org/drawingml/2006/main">
            <a:r>
              <a:rPr lang="en-US" sz="1400">
                <a:solidFill>
                  <a:srgbClr val="38BDF8"/>
                </a:solidFill>
              </a:rPr>
              <a:t>                         │</a:t>
            </a:r>
          </a:p>
          <a:p xmlns:a="http://schemas.openxmlformats.org/drawingml/2006/main">
            <a:r>
              <a:rPr lang="en-US" sz="1400">
                <a:solidFill>
                  <a:srgbClr val="38BDF8"/>
                </a:solidFill>
              </a:rPr>
              <a:t>                         ▼</a:t>
            </a:r>
          </a:p>
          <a:p xmlns:a="http://schemas.openxmlformats.org/drawingml/2006/main">
            <a:r>
              <a:rPr lang="en-US" sz="1400">
                <a:solidFill>
                  <a:srgbClr val="38BDF8"/>
                </a:solidFill>
              </a:rPr>
              <a:t>        ┌───────────────────────────────────┐</a:t>
            </a:r>
          </a:p>
          <a:p xmlns:a="http://schemas.openxmlformats.org/drawingml/2006/main">
            <a:r>
              <a:rPr lang="en-US" sz="1400">
                <a:solidFill>
                  <a:srgbClr val="38BDF8"/>
                </a:solidFill>
              </a:rPr>
              <a:t>        │             LLM AGENT             │</a:t>
            </a:r>
          </a:p>
          <a:p xmlns:a="http://schemas.openxmlformats.org/drawingml/2006/main">
            <a:r>
              <a:rPr lang="en-US" sz="1400">
                <a:solidFill>
                  <a:srgbClr val="38BDF8"/>
                </a:solidFill>
              </a:rPr>
              <a:t>        │                                   │</a:t>
            </a:r>
          </a:p>
          <a:p xmlns:a="http://schemas.openxmlformats.org/drawingml/2006/main">
            <a:r>
              <a:rPr lang="en-US" sz="1400">
                <a:solidFill>
                  <a:srgbClr val="38BDF8"/>
                </a:solidFill>
              </a:rPr>
              <a:t>        │   Step 1: Deduplicate Evidence    │</a:t>
            </a:r>
          </a:p>
          <a:p xmlns:a="http://schemas.openxmlformats.org/drawingml/2006/main">
            <a:r>
              <a:rPr lang="en-US" sz="1400">
                <a:solidFill>
                  <a:srgbClr val="38BDF8"/>
                </a:solidFill>
              </a:rPr>
              <a:t>        │   Step 2: Score RCA Relevance     │</a:t>
            </a:r>
          </a:p>
          <a:p xmlns:a="http://schemas.openxmlformats.org/drawingml/2006/main">
            <a:r>
              <a:rPr lang="en-US" sz="1400">
                <a:solidFill>
                  <a:srgbClr val="38BDF8"/>
                </a:solidFill>
              </a:rPr>
              <a:t>        │   Step 3: Final Rank Synthesis    │</a:t>
            </a:r>
          </a:p>
          <a:p xmlns:a="http://schemas.openxmlformats.org/drawingml/2006/main">
            <a:r>
              <a:rPr lang="en-US" sz="1400">
                <a:solidFill>
                  <a:srgbClr val="38BDF8"/>
                </a:solidFill>
              </a:rPr>
              <a:t>        └─────────────────┬─────────────────┘</a:t>
            </a:r>
          </a:p>
          <a:p xmlns:a="http://schemas.openxmlformats.org/drawingml/2006/main">
            <a:r>
              <a:rPr lang="en-US" sz="1400">
                <a:solidFill>
                  <a:srgbClr val="38BDF8"/>
                </a:solidFill>
              </a:rPr>
              <a:t>                          │</a:t>
            </a:r>
          </a:p>
          <a:p xmlns:a="http://schemas.openxmlformats.org/drawingml/2006/main">
            <a:r>
              <a:rPr lang="en-US" sz="1400">
                <a:solidFill>
                  <a:srgbClr val="38BDF8"/>
                </a:solidFill>
              </a:rPr>
              <a:t>                          ▼</a:t>
            </a:r>
          </a:p>
          <a:p xmlns:a="http://schemas.openxmlformats.org/drawingml/2006/main">
            <a:r>
              <a:rPr lang="en-US" sz="1400">
                <a:solidFill>
                  <a:srgbClr val="38BDF8"/>
                </a:solidFill>
              </a:rPr>
              <a:t>              Final Ranked Evidence List</a:t>
            </a:r>
          </a:p>
        </p:txBody>
      </p:sp>
      <p:sp>
        <p:nvSpPr>
          <p:cNvPr id="100033" name="StepsCard"/>
          <p:cNvSpPr txBox="1"/>
          <p:nvPr/>
        </p:nvSpPr>
        <p:spPr>
          <a:xfrm xmlns:a="http://schemas.openxmlformats.org/drawingml/2006/main">
            <a:off x="6300000" y="1440000"/>
            <a:ext cx="5328000" cy="2592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F8FAFC"/>
                </a:solidFill>
              </a:rPr>
              <a:t>Step-by-Step Processing Scope:</a:t>
            </a:r>
          </a:p>
          <a:p xmlns:a="http://schemas.openxmlformats.org/drawingml/2006/main">
            <a:r>
              <a:rPr lang="en-US" sz="1400">
                <a:solidFill>
                  <a:srgbClr val="F8FAFC"/>
                </a:solidFill>
              </a:rPr>
              <a:t/>
            </a:r>
          </a:p>
          <a:p xmlns:a="http://schemas.openxmlformats.org/drawingml/2006/main">
            <a:r>
              <a:rPr lang="en-US" sz="1400">
                <a:solidFill>
                  <a:srgbClr val="F8FAFC"/>
                </a:solidFill>
              </a:rPr>
              <a:t>Step 1 — Deduplication</a:t>
            </a:r>
          </a:p>
          <a:p xmlns:a="http://schemas.openxmlformats.org/drawingml/2006/main">
            <a:r>
              <a:rPr lang="en-US" sz="1400">
                <a:solidFill>
                  <a:srgbClr val="F8FAFC"/>
                </a:solidFill>
              </a:rPr>
              <a:t>• Remove redundant / overlapping evidence items and synthesize canonical representations.</a:t>
            </a:r>
          </a:p>
          <a:p xmlns:a="http://schemas.openxmlformats.org/drawingml/2006/main">
            <a:r>
              <a:rPr lang="en-US" sz="1400">
                <a:solidFill>
                  <a:srgbClr val="F8FAFC"/>
                </a:solidFill>
              </a:rPr>
              <a:t/>
            </a:r>
          </a:p>
          <a:p xmlns:a="http://schemas.openxmlformats.org/drawingml/2006/main">
            <a:r>
              <a:rPr lang="en-US" sz="1400">
                <a:solidFill>
                  <a:srgbClr val="F8FAFC"/>
                </a:solidFill>
              </a:rPr>
              <a:t>Step 2 — Relevance Scoring</a:t>
            </a:r>
          </a:p>
          <a:p xmlns:a="http://schemas.openxmlformats.org/drawingml/2006/main">
            <a:r>
              <a:rPr lang="en-US" sz="1400">
                <a:solidFill>
                  <a:srgbClr val="F8FAFC"/>
                </a:solidFill>
              </a:rPr>
              <a:t>• Evaluate each unique evidence item against the RCA.</a:t>
            </a:r>
          </a:p>
          <a:p xmlns:a="http://schemas.openxmlformats.org/drawingml/2006/main">
            <a:r>
              <a:rPr lang="en-US" sz="1400">
                <a:solidFill>
                  <a:srgbClr val="F8FAFC"/>
                </a:solidFill>
              </a:rPr>
              <a:t>• Grade Scale: Very High / High / Medium / Low.</a:t>
            </a:r>
          </a:p>
          <a:p xmlns:a="http://schemas.openxmlformats.org/drawingml/2006/main">
            <a:r>
              <a:rPr lang="en-US" sz="1400">
                <a:solidFill>
                  <a:srgbClr val="F8FAFC"/>
                </a:solidFill>
              </a:rPr>
              <a:t/>
            </a:r>
          </a:p>
          <a:p xmlns:a="http://schemas.openxmlformats.org/drawingml/2006/main">
            <a:r>
              <a:rPr lang="en-US" sz="1400">
                <a:solidFill>
                  <a:srgbClr val="F8FAFC"/>
                </a:solidFill>
              </a:rPr>
              <a:t>Step 3 — Final Ranking</a:t>
            </a:r>
          </a:p>
          <a:p xmlns:a="http://schemas.openxmlformats.org/drawingml/2006/main">
            <a:r>
              <a:rPr lang="en-US" sz="1400">
                <a:solidFill>
                  <a:srgbClr val="F8FAFC"/>
                </a:solidFill>
              </a:rPr>
              <a:t>• Combine Evidence Strength × RCA Relevance.</a:t>
            </a:r>
          </a:p>
        </p:txBody>
      </p:sp>
      <p:sp>
        <p:nvSpPr>
          <p:cNvPr id="100034" name="RubricCard"/>
          <p:cNvSpPr txBox="1"/>
          <p:nvPr/>
        </p:nvSpPr>
        <p:spPr>
          <a:xfrm xmlns:a="http://schemas.openxmlformats.org/drawingml/2006/main">
            <a:off x="6300000" y="4176000"/>
            <a:ext cx="5328000" cy="1944000"/>
          </a:xfrm>
          <a:prstGeom xmlns:a="http://schemas.openxmlformats.org/drawingml/2006/main" prst="rect">
            <a:avLst/>
          </a:prstGeom>
          <a:solidFill xmlns:a="http://schemas.openxmlformats.org/drawingml/2006/main">
            <a:srgbClr val="334155"/>
          </a:solidFill>
        </p:spPr>
        <p:txBody>
          <a:bodyPr xmlns:a="http://schemas.openxmlformats.org/drawingml/2006/main"/>
          <a:lstStyle xmlns:a="http://schemas.openxmlformats.org/drawingml/2006/main"/>
          <a:p xmlns:a="http://schemas.openxmlformats.org/drawingml/2006/main">
            <a:r>
              <a:rPr lang="en-US" sz="1400">
                <a:solidFill>
                  <a:srgbClr val="F59E0B"/>
                </a:solidFill>
              </a:rPr>
              <a:t>⚙️ Ranking Strategy Evaluation:</a:t>
            </a:r>
          </a:p>
          <a:p xmlns:a="http://schemas.openxmlformats.org/drawingml/2006/main">
            <a:r>
              <a:rPr lang="en-US" sz="1400">
                <a:solidFill>
                  <a:srgbClr val="F59E0B"/>
                </a:solidFill>
              </a:rPr>
              <a:t/>
            </a:r>
          </a:p>
          <a:p xmlns:a="http://schemas.openxmlformats.org/drawingml/2006/main">
            <a:r>
              <a:rPr lang="en-US" sz="1400">
                <a:solidFill>
                  <a:srgbClr val="F59E0B"/>
                </a:solidFill>
              </a:rPr>
              <a:t>We are evaluating an LLM rubric where strength and relevance are considered together in context rather than relying on simple rigid mathematical sort keys. This avoids over-prioritizing generic strong signals over RCA-specific indicators.</a:t>
            </a:r>
          </a:p>
        </p:txBody>
      </p:sp>
    </p:spTree>
  </p:cSld>
</p:sld>
</file>

<file path=ppt/slides/slide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35" name="HeaderTag"/>
          <p:cNvSpPr txBox="1"/>
          <p:nvPr/>
        </p:nvSpPr>
        <p:spPr>
          <a:xfrm xmlns:a="http://schemas.openxmlformats.org/drawingml/2006/main">
            <a:off x="540000" y="360000"/>
            <a:ext cx="3060000" cy="288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200" b="1">
                <a:solidFill>
                  <a:srgbClr val="38BDF8"/>
                </a:solidFill>
              </a:rPr>
              <a:t>COMPARISON &amp; TRADE-OFFS</a:t>
            </a:r>
          </a:p>
        </p:txBody>
      </p:sp>
      <p:sp>
        <p:nvSpPr>
          <p:cNvPr id="100036" name="Title"/>
          <p:cNvSpPr txBox="1"/>
          <p:nvPr/>
        </p:nvSpPr>
        <p:spPr>
          <a:xfrm xmlns:a="http://schemas.openxmlformats.org/drawingml/2006/main">
            <a:off x="540000" y="720000"/>
            <a:ext cx="11088000" cy="57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Alternative Approaches &amp; Why LLM for MVP</a:t>
            </a:r>
          </a:p>
        </p:txBody>
      </p:sp>
      <p:sp>
        <p:nvSpPr>
          <p:cNvPr id="100037" name="ComparisonTable"/>
          <p:cNvSpPr txBox="1"/>
          <p:nvPr/>
        </p:nvSpPr>
        <p:spPr>
          <a:xfrm xmlns:a="http://schemas.openxmlformats.org/drawingml/2006/main">
            <a:off x="540000" y="1368000"/>
            <a:ext cx="11088000" cy="2376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400">
                <a:solidFill>
                  <a:srgbClr val="CBD5E1"/>
                </a:solidFill>
              </a:rPr>
              <a:t>Comparison of Alternative Approaches:</a:t>
            </a:r>
          </a:p>
          <a:p xmlns:a="http://schemas.openxmlformats.org/drawingml/2006/main">
            <a:r>
              <a:rPr lang="en-US" sz="1400">
                <a:solidFill>
                  <a:srgbClr val="CBD5E1"/>
                </a:solidFill>
              </a:rPr>
              <a:t/>
            </a:r>
          </a:p>
          <a:p xmlns:a="http://schemas.openxmlformats.org/drawingml/2006/main">
            <a:r>
              <a:rPr lang="en-US" sz="1400">
                <a:solidFill>
                  <a:srgbClr val="CBD5E1"/>
                </a:solidFill>
              </a:rPr>
              <a:t>Approach               Deduplication             RCA Relevance                  Key Trade-off</a:t>
            </a:r>
          </a:p>
          <a:p xmlns:a="http://schemas.openxmlformats.org/drawingml/2006/main">
            <a:r>
              <a:rPr lang="en-US" sz="1400">
                <a:solidFill>
                  <a:srgbClr val="CBD5E1"/>
                </a:solidFill>
              </a:rPr>
              <a:t>─────────────────────────────────────────────────────────────────────────────────────────────</a:t>
            </a:r>
          </a:p>
          <a:p xmlns:a="http://schemas.openxmlformats.org/drawingml/2006/main">
            <a:r>
              <a:rPr lang="en-US" sz="1400">
                <a:solidFill>
                  <a:srgbClr val="CBD5E1"/>
                </a:solidFill>
              </a:rPr>
              <a:t>• LLM Agent            Semantic reasoning        RCA-aware causal logic         Accurate &amp; contextual; non-deterministic</a:t>
            </a:r>
          </a:p>
          <a:p xmlns:a="http://schemas.openxmlformats.org/drawingml/2006/main">
            <a:r>
              <a:rPr lang="en-US" sz="1400">
                <a:solidFill>
                  <a:srgbClr val="CBD5E1"/>
                </a:solidFill>
              </a:rPr>
              <a:t>• Embeddings           Vector cosine sim         Vector similarity to RCA       Fast; requires threshold tuning; no reasoning</a:t>
            </a:r>
          </a:p>
          <a:p xmlns:a="http://schemas.openxmlformats.org/drawingml/2006/main">
            <a:r>
              <a:rPr lang="en-US" sz="1400">
                <a:solidFill>
                  <a:srgbClr val="CBD5E1"/>
                </a:solidFill>
              </a:rPr>
              <a:t>• Token / BM25         Lexical keyword match     Keyword overlap with RCA       Simple &amp; fast; misses synonyms &amp; context</a:t>
            </a:r>
          </a:p>
        </p:txBody>
      </p:sp>
      <p:sp>
        <p:nvSpPr>
          <p:cNvPr id="100038" name="WhyLLMCard"/>
          <p:cNvSpPr txBox="1"/>
          <p:nvPr/>
        </p:nvSpPr>
        <p:spPr>
          <a:xfrm xmlns:a="http://schemas.openxmlformats.org/drawingml/2006/main">
            <a:off x="540000" y="3888000"/>
            <a:ext cx="11088000" cy="2232000"/>
          </a:xfrm>
          <a:prstGeom xmlns:a="http://schemas.openxmlformats.org/drawingml/2006/main" prst="rect">
            <a:avLst/>
          </a:prstGeom>
          <a:solidFill xmlns:a="http://schemas.openxmlformats.org/drawingml/2006/main">
            <a:srgbClr val="1E293B"/>
          </a:solidFill>
        </p:spPr>
        <p:txBody>
          <a:bodyPr xmlns:a="http://schemas.openxmlformats.org/drawingml/2006/main"/>
          <a:lstStyle xmlns:a="http://schemas.openxmlformats.org/drawingml/2006/main"/>
          <a:p xmlns:a="http://schemas.openxmlformats.org/drawingml/2006/main">
            <a:r>
              <a:rPr lang="en-US" sz="1500">
                <a:solidFill>
                  <a:srgbClr val="F8FAFC"/>
                </a:solidFill>
              </a:rPr>
              <a:t>Why LLM is Chosen for the MVP:</a:t>
            </a:r>
          </a:p>
          <a:p xmlns:a="http://schemas.openxmlformats.org/drawingml/2006/main">
            <a:r>
              <a:rPr lang="en-US" sz="1500">
                <a:solidFill>
                  <a:srgbClr val="F8FAFC"/>
                </a:solidFill>
              </a:rPr>
              <a:t/>
            </a:r>
          </a:p>
          <a:p xmlns:a="http://schemas.openxmlformats.org/drawingml/2006/main">
            <a:r>
              <a:rPr lang="en-US" sz="1500">
                <a:solidFill>
                  <a:srgbClr val="F8FAFC"/>
                </a:solidFill>
              </a:rPr>
              <a:t>1. Evidence ranking is fundamentally contextual:</a:t>
            </a:r>
          </a:p>
          <a:p xmlns:a="http://schemas.openxmlformats.org/drawingml/2006/main">
            <a:r>
              <a:rPr lang="en-US" sz="1500">
                <a:solidFill>
                  <a:srgbClr val="F8FAFC"/>
                </a:solidFill>
              </a:rPr>
              <a:t>   Whether evidence matters depends directly on the specific RCA hypothesis it is validating.</a:t>
            </a:r>
          </a:p>
          <a:p xmlns:a="http://schemas.openxmlformats.org/drawingml/2006/main">
            <a:r>
              <a:rPr lang="en-US" sz="1500">
                <a:solidFill>
                  <a:srgbClr val="F8FAFC"/>
                </a:solidFill>
              </a:rPr>
              <a:t/>
            </a:r>
          </a:p>
          <a:p xmlns:a="http://schemas.openxmlformats.org/drawingml/2006/main">
            <a:r>
              <a:rPr lang="en-US" sz="1500">
                <a:solidFill>
                  <a:srgbClr val="F8FAFC"/>
                </a:solidFill>
              </a:rPr>
              <a:t>2. Causal reasoning over raw text similarity:</a:t>
            </a:r>
          </a:p>
          <a:p xmlns:a="http://schemas.openxmlformats.org/drawingml/2006/main">
            <a:r>
              <a:rPr lang="en-US" sz="1500">
                <a:solidFill>
                  <a:srgbClr val="F8FAFC"/>
                </a:solidFill>
              </a:rPr>
              <a:t>   The LLM evaluates: “Does this fact actually support this RCA mechanism?”</a:t>
            </a:r>
          </a:p>
          <a:p xmlns:a="http://schemas.openxmlformats.org/drawingml/2006/main">
            <a:r>
              <a:rPr lang="en-US" sz="1500">
                <a:solidFill>
                  <a:srgbClr val="F8FAFC"/>
                </a:solidFill>
              </a:rPr>
              <a:t>   rather than simply: “Does this text look similar to the RCA sentence?”</a:t>
            </a:r>
          </a:p>
          <a:p xmlns:a="http://schemas.openxmlformats.org/drawingml/2006/main">
            <a:r>
              <a:rPr lang="en-US" sz="1500">
                <a:solidFill>
                  <a:srgbClr val="F8FAFC"/>
                </a:solidFill>
              </a:rPr>
              <a:t/>
            </a:r>
          </a:p>
          <a:p xmlns:a="http://schemas.openxmlformats.org/drawingml/2006/main">
            <a:r>
              <a:rPr lang="en-US" sz="1500">
                <a:solidFill>
                  <a:srgbClr val="F8FAFC"/>
                </a:solidFill>
              </a:rPr>
              <a:t>3. Explainability:</a:t>
            </a:r>
          </a:p>
          <a:p xmlns:a="http://schemas.openxmlformats.org/drawingml/2006/main">
            <a:r>
              <a:rPr lang="en-US" sz="1500">
                <a:solidFill>
                  <a:srgbClr val="F8FAFC"/>
                </a:solidFill>
              </a:rPr>
              <a:t>   The LLM provides transparent reasons for merging duplicates and ordering evidence for SREs.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2026-10-12T06:21:33Z</dcterms:created>
  <cp:lastModifiedBy>OfficeCLI</cp:lastModifiedBy>
  <dcterms:modified xsi:type="dcterms:W3CDTF">2026-10-12T06:21:33Z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1.0.156</vt:lpwstr>
  </op:property>
  <op:property fmtid="{D5CDD505-2E9C-101B-9397-08002B2CF9AE}" pid="3" name="OfficeCLI.LastModified">
    <vt:lpwstr xmlns:vt="http://schemas.openxmlformats.org/officeDocument/2006/docPropsVTypes">2026-10-12T06:24:55Z</vt:lpwstr>
  </op:property>
</op:Properties>
</file>